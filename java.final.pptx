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20" y="1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666999"/>
            <a:ext cx="4038599" cy="41909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895600"/>
            <a:ext cx="1523999" cy="2362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10600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01000" y="0"/>
            <a:ext cx="1600200" cy="1143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13" Type="http://schemas.openxmlformats.org/officeDocument/2006/relationships/image" Target="../media/image7.png" /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jpg" /><Relationship Id="rId12" Type="http://schemas.openxmlformats.org/officeDocument/2006/relationships/image" Target="../media/image6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11" Type="http://schemas.openxmlformats.org/officeDocument/2006/relationships/image" Target="../media/image5.png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9.png" /><Relationship Id="rId10" Type="http://schemas.openxmlformats.org/officeDocument/2006/relationships/image" Target="../media/image4.png" /><Relationship Id="rId4" Type="http://schemas.openxmlformats.org/officeDocument/2006/relationships/slideLayout" Target="../slideLayouts/slideLayout4.xml" /><Relationship Id="rId9" Type="http://schemas.openxmlformats.org/officeDocument/2006/relationships/image" Target="../media/image3.png" /><Relationship Id="rId14" Type="http://schemas.openxmlformats.org/officeDocument/2006/relationships/image" Target="../media/image8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6999"/>
            <a:ext cx="4038599" cy="41909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5600"/>
            <a:ext cx="1523999" cy="2362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10600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01000" y="0"/>
            <a:ext cx="1600200" cy="1143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10600" y="6095999"/>
            <a:ext cx="990600" cy="7619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1775" y="0"/>
            <a:ext cx="776287" cy="1214374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9400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8125" y="228600"/>
            <a:ext cx="1143000" cy="150495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15600" y="0"/>
            <a:ext cx="1676400" cy="1676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5487" y="400367"/>
            <a:ext cx="9165272" cy="18234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EBEBEB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022" y="2193670"/>
            <a:ext cx="5745480" cy="3202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11" Type="http://schemas.openxmlformats.org/officeDocument/2006/relationships/image" Target="../media/image12.jpg" /><Relationship Id="rId5" Type="http://schemas.openxmlformats.org/officeDocument/2006/relationships/image" Target="../media/image4.png" /><Relationship Id="rId10" Type="http://schemas.openxmlformats.org/officeDocument/2006/relationships/image" Target="../media/image11.png" /><Relationship Id="rId4" Type="http://schemas.openxmlformats.org/officeDocument/2006/relationships/image" Target="../media/image3.png" /><Relationship Id="rId9" Type="http://schemas.openxmlformats.org/officeDocument/2006/relationships/image" Target="../media/image10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18.jp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028991" TargetMode="External" /><Relationship Id="rId7" Type="http://schemas.openxmlformats.org/officeDocument/2006/relationships/hyperlink" Target="https://ieeexplore.ieee.org/document/9841883" TargetMode="External" /><Relationship Id="rId2" Type="http://schemas.openxmlformats.org/officeDocument/2006/relationships/hyperlink" Target="https://ieeexplore.ieee.org/book/5263854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ieeexplore.ieee.org/document/8642802" TargetMode="External" /><Relationship Id="rId5" Type="http://schemas.openxmlformats.org/officeDocument/2006/relationships/hyperlink" Target="https://dev.mysql.com/doc/refman/8.0/en/" TargetMode="External" /><Relationship Id="rId4" Type="http://schemas.openxmlformats.org/officeDocument/2006/relationships/hyperlink" Target="https://docs.spring.io/spring-boot/docs/current/reference/html/" TargetMode="Externa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22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1071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666999"/>
              <a:ext cx="4038599" cy="4190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895600"/>
              <a:ext cx="1523999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10600" y="1676400"/>
              <a:ext cx="2819400" cy="2819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1000" y="0"/>
              <a:ext cx="1600200" cy="11430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10600" y="6095999"/>
            <a:ext cx="990600" cy="7619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391775" y="0"/>
            <a:ext cx="776605" cy="1214755"/>
            <a:chOff x="10391775" y="0"/>
            <a:chExt cx="776605" cy="121475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91775" y="0"/>
              <a:ext cx="776287" cy="12143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439400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8125" y="228600"/>
            <a:ext cx="1143000" cy="15049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15600" y="0"/>
            <a:ext cx="1676400" cy="1676400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738553" y="210230"/>
            <a:ext cx="9942513" cy="1823402"/>
          </a:xfrm>
          <a:prstGeom prst="rect">
            <a:avLst/>
          </a:prstGeom>
        </p:spPr>
        <p:txBody>
          <a:bodyPr vert="horz" wrap="square" lIns="0" tIns="322262" rIns="0" bIns="0" rtlCol="0">
            <a:spAutoFit/>
          </a:bodyPr>
          <a:lstStyle/>
          <a:p>
            <a:pPr marL="1275080" marR="5080">
              <a:lnSpc>
                <a:spcPct val="100800"/>
              </a:lnSpc>
              <a:spcBef>
                <a:spcPts val="70"/>
              </a:spcBef>
            </a:pPr>
            <a:r>
              <a:rPr sz="3600" spc="-10" dirty="0">
                <a:solidFill>
                  <a:srgbClr val="FFFF00"/>
                </a:solidFill>
                <a:latin typeface="Times New Roman"/>
                <a:cs typeface="Times New Roman"/>
              </a:rPr>
              <a:t>FarmDirect:</a:t>
            </a:r>
            <a:r>
              <a:rPr sz="3600" spc="-17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sz="3600" spc="-1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Smart</a:t>
            </a:r>
            <a:r>
              <a:rPr sz="3600" spc="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FFFF00"/>
                </a:solidFill>
                <a:latin typeface="Times New Roman"/>
                <a:cs typeface="Times New Roman"/>
              </a:rPr>
              <a:t>Farmer-</a:t>
            </a:r>
            <a:r>
              <a:rPr sz="3600" spc="-10" dirty="0">
                <a:solidFill>
                  <a:srgbClr val="FFFF00"/>
                </a:solidFill>
                <a:latin typeface="Times New Roman"/>
                <a:cs typeface="Times New Roman"/>
              </a:rPr>
              <a:t>to-Consumer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Marketplace</a:t>
            </a:r>
            <a:r>
              <a:rPr sz="3600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for</a:t>
            </a:r>
            <a:r>
              <a:rPr sz="3600" spc="-229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Agricultural</a:t>
            </a:r>
            <a:r>
              <a:rPr sz="3600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00"/>
                </a:solidFill>
                <a:latin typeface="Times New Roman"/>
                <a:cs typeface="Times New Roman"/>
              </a:rPr>
              <a:t>Product</a:t>
            </a:r>
            <a:r>
              <a:rPr sz="3600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FFFF00"/>
                </a:solidFill>
                <a:latin typeface="Times New Roman"/>
                <a:cs typeface="Times New Roman"/>
              </a:rPr>
              <a:t>Sales</a:t>
            </a:r>
            <a:endParaRPr sz="3600" dirty="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1732280">
              <a:lnSpc>
                <a:spcPct val="100000"/>
              </a:lnSpc>
              <a:spcBef>
                <a:spcPts val="600"/>
              </a:spcBef>
            </a:pPr>
            <a:r>
              <a:rPr sz="2000" spc="-125" dirty="0">
                <a:solidFill>
                  <a:srgbClr val="FFC000"/>
                </a:solidFill>
                <a:latin typeface="Times New Roman"/>
                <a:cs typeface="Times New Roman"/>
              </a:rPr>
              <a:t>JAVA-</a:t>
            </a:r>
            <a:r>
              <a:rPr sz="2000" dirty="0">
                <a:solidFill>
                  <a:srgbClr val="FFC000"/>
                </a:solidFill>
                <a:latin typeface="Times New Roman"/>
                <a:cs typeface="Times New Roman"/>
              </a:rPr>
              <a:t>BASED</a:t>
            </a:r>
            <a:r>
              <a:rPr sz="2000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C000"/>
                </a:solidFill>
                <a:latin typeface="Times New Roman"/>
                <a:cs typeface="Times New Roman"/>
              </a:rPr>
              <a:t>WEB</a:t>
            </a:r>
            <a:r>
              <a:rPr sz="2000" spc="-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Times New Roman"/>
                <a:cs typeface="Times New Roman"/>
              </a:rPr>
              <a:t>DEVELOPMENT</a:t>
            </a:r>
            <a:r>
              <a:rPr sz="2000" spc="-5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C000"/>
                </a:solidFill>
                <a:latin typeface="Times New Roman"/>
                <a:cs typeface="Times New Roman"/>
              </a:rPr>
              <a:t>–</a:t>
            </a:r>
            <a:r>
              <a:rPr sz="2000" spc="-4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C000"/>
                </a:solidFill>
                <a:latin typeface="Times New Roman"/>
                <a:cs typeface="Times New Roman"/>
              </a:rPr>
              <a:t>CAPSTONE</a:t>
            </a:r>
            <a:r>
              <a:rPr sz="2000" spc="-4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C000"/>
                </a:solidFill>
                <a:latin typeface="Times New Roman"/>
                <a:cs typeface="Times New Roman"/>
              </a:rPr>
              <a:t>PROJECT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937" y="4816792"/>
            <a:ext cx="3707129" cy="20193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Presented</a:t>
            </a:r>
            <a:r>
              <a:rPr sz="26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1000"/>
              </a:lnSpc>
              <a:spcBef>
                <a:spcPts val="5"/>
              </a:spcBef>
            </a:pP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S.YUVASRI</a:t>
            </a:r>
            <a:r>
              <a:rPr sz="2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([192511202]) S.SUVATHI([192571064])</a:t>
            </a:r>
            <a:endParaRPr sz="2600">
              <a:latin typeface="Times New Roman"/>
              <a:cs typeface="Times New Roman"/>
            </a:endParaRPr>
          </a:p>
          <a:p>
            <a:pPr marL="12700" marR="332740">
              <a:lnSpc>
                <a:spcPts val="3160"/>
              </a:lnSpc>
              <a:spcBef>
                <a:spcPts val="20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B.E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B.Tech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 Science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87460" y="4905121"/>
            <a:ext cx="3347085" cy="2019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Guided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Dr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.A</a:t>
            </a:r>
            <a:r>
              <a:rPr sz="26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MOHAN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100"/>
              </a:lnSpc>
              <a:spcBef>
                <a:spcPts val="3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Dr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.E</a:t>
            </a:r>
            <a:r>
              <a:rPr sz="2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MEGANATHAN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150"/>
              </a:lnSpc>
              <a:spcBef>
                <a:spcPts val="5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Computer Science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0446" y="2214851"/>
            <a:ext cx="5038725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2199" y="1071562"/>
            <a:ext cx="394398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121" y="2082736"/>
            <a:ext cx="8107679" cy="32942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2065" indent="292100">
              <a:lnSpc>
                <a:spcPts val="3080"/>
              </a:lnSpc>
              <a:spcBef>
                <a:spcPts val="260"/>
              </a:spcBef>
              <a:buFont typeface="Trebuchet MS"/>
              <a:buChar char="•"/>
              <a:tabLst>
                <a:tab pos="30480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Indian</a:t>
            </a:r>
            <a:r>
              <a:rPr sz="2600" spc="2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agriculture</a:t>
            </a:r>
            <a:r>
              <a:rPr sz="26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involves</a:t>
            </a:r>
            <a:r>
              <a:rPr sz="2600" spc="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140+</a:t>
            </a:r>
            <a:r>
              <a:rPr sz="26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million</a:t>
            </a:r>
            <a:r>
              <a:rPr sz="26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farming</a:t>
            </a:r>
            <a:r>
              <a:rPr sz="26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families</a:t>
            </a:r>
            <a:r>
              <a:rPr sz="26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endParaRPr sz="2600" dirty="0">
              <a:latin typeface="Times New Roman"/>
              <a:cs typeface="Times New Roman"/>
            </a:endParaRPr>
          </a:p>
          <a:p>
            <a:pPr marL="12700" marR="5080" indent="198120">
              <a:lnSpc>
                <a:spcPct val="101099"/>
              </a:lnSpc>
              <a:spcBef>
                <a:spcPts val="5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Middlemen</a:t>
            </a:r>
            <a:r>
              <a:rPr sz="2600" spc="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600" spc="4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30-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40%</a:t>
            </a:r>
            <a:r>
              <a:rPr sz="26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6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6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price,</a:t>
            </a:r>
            <a:r>
              <a:rPr sz="26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reducing</a:t>
            </a:r>
            <a:r>
              <a:rPr sz="26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farmer</a:t>
            </a:r>
            <a:r>
              <a:rPr sz="2600"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income significantly</a:t>
            </a:r>
            <a:endParaRPr sz="2600" dirty="0">
              <a:latin typeface="Times New Roman"/>
              <a:cs typeface="Times New Roman"/>
            </a:endParaRPr>
          </a:p>
          <a:p>
            <a:pPr marL="12700" marR="10795" indent="198120">
              <a:lnSpc>
                <a:spcPct val="101099"/>
              </a:lnSpc>
              <a:spcBef>
                <a:spcPts val="150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FarmDirect</a:t>
            </a:r>
            <a:r>
              <a:rPr sz="26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6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6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Java-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6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26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marketplace</a:t>
            </a:r>
            <a:r>
              <a:rPr sz="26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sz="2600" spc="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farmers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directly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consumers</a:t>
            </a:r>
            <a:endParaRPr sz="2600" dirty="0">
              <a:latin typeface="Times New Roman"/>
              <a:cs typeface="Times New Roman"/>
            </a:endParaRPr>
          </a:p>
          <a:p>
            <a:pPr marL="12700" marR="5715" indent="198120">
              <a:lnSpc>
                <a:spcPct val="101099"/>
              </a:lnSpc>
              <a:spcBef>
                <a:spcPts val="150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r>
              <a:rPr sz="2600" spc="6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supports</a:t>
            </a:r>
            <a:r>
              <a:rPr sz="26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2,400+</a:t>
            </a:r>
            <a:r>
              <a:rPr sz="2600" spc="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r>
              <a:rPr sz="26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farmers</a:t>
            </a:r>
            <a:r>
              <a:rPr sz="2600" spc="6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spc="3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600" spc="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delivered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95,000+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orders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India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3322" y="1600200"/>
            <a:ext cx="3383279" cy="2943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1975" y="1571624"/>
            <a:ext cx="3924300" cy="29241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93189" y="1120838"/>
            <a:ext cx="501015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Problem</a:t>
            </a:r>
            <a:r>
              <a:rPr spc="-105" dirty="0"/>
              <a:t> </a:t>
            </a:r>
            <a:r>
              <a:rPr spc="16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020" y="1738811"/>
            <a:ext cx="7872095" cy="4784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970" indent="291465">
              <a:lnSpc>
                <a:spcPct val="149200"/>
              </a:lnSpc>
              <a:spcBef>
                <a:spcPts val="90"/>
              </a:spcBef>
              <a:buFont typeface="Trebuchet MS"/>
              <a:buChar char="•"/>
              <a:tabLst>
                <a:tab pos="304165" algn="l"/>
                <a:tab pos="1621790" algn="l"/>
                <a:tab pos="2407285" algn="l"/>
                <a:tab pos="3394075" algn="l"/>
                <a:tab pos="4546600" algn="l"/>
                <a:tab pos="5624195" algn="l"/>
                <a:tab pos="6336030" algn="l"/>
                <a:tab pos="7525384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Farmers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lack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market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depend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on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middlemen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endParaRPr sz="2600">
              <a:latin typeface="Times New Roman"/>
              <a:cs typeface="Times New Roman"/>
            </a:endParaRPr>
          </a:p>
          <a:p>
            <a:pPr marL="12700" marR="10160" indent="197485">
              <a:lnSpc>
                <a:spcPct val="149300"/>
              </a:lnSpc>
              <a:spcBef>
                <a:spcPts val="75"/>
              </a:spcBef>
              <a:buChar char="•"/>
              <a:tabLst>
                <a:tab pos="210185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Consumers</a:t>
            </a:r>
            <a:r>
              <a:rPr sz="26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pay</a:t>
            </a:r>
            <a:r>
              <a:rPr sz="26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6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prices</a:t>
            </a:r>
            <a:r>
              <a:rPr sz="26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6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fresh</a:t>
            </a:r>
            <a:r>
              <a:rPr sz="26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produce</a:t>
            </a:r>
            <a:r>
              <a:rPr sz="2600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6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6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long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supply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chains</a:t>
            </a:r>
            <a:endParaRPr sz="2600">
              <a:latin typeface="Times New Roman"/>
              <a:cs typeface="Times New Roman"/>
            </a:endParaRPr>
          </a:p>
          <a:p>
            <a:pPr marL="12700" marR="6350" indent="-10160">
              <a:lnSpc>
                <a:spcPts val="4730"/>
              </a:lnSpc>
              <a:spcBef>
                <a:spcPts val="350"/>
              </a:spcBef>
              <a:buSzPct val="94230"/>
              <a:buChar char="•"/>
              <a:tabLst>
                <a:tab pos="128270" algn="l"/>
                <a:tab pos="1968500" algn="l"/>
                <a:tab pos="2964815" algn="l"/>
                <a:tab pos="4368165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	Post-harvest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losses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are</a:t>
            </a:r>
            <a:r>
              <a:rPr sz="26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due</a:t>
            </a:r>
            <a:r>
              <a:rPr sz="26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6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delays</a:t>
            </a:r>
            <a:r>
              <a:rPr sz="2600" spc="17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spc="15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poor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logistics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coordination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10"/>
              </a:spcBef>
              <a:buChar char="•"/>
              <a:tabLst>
                <a:tab pos="210820" algn="l"/>
                <a:tab pos="1551305" algn="l"/>
                <a:tab pos="3419475" algn="l"/>
                <a:tab pos="4923790" algn="l"/>
                <a:tab pos="5563870" algn="l"/>
                <a:tab pos="6224270" algn="l"/>
                <a:tab pos="7471409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Existing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e-commerce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tailored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agricultural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products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533400"/>
            <a:ext cx="517525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System</a:t>
            </a:r>
            <a:r>
              <a:rPr spc="-95" dirty="0"/>
              <a:t> </a:t>
            </a:r>
            <a:r>
              <a:rPr spc="12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676400"/>
            <a:ext cx="5410200" cy="4000454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305435" indent="-292735">
              <a:lnSpc>
                <a:spcPct val="100000"/>
              </a:lnSpc>
              <a:spcBef>
                <a:spcPts val="1635"/>
              </a:spcBef>
              <a:buFont typeface="Trebuchet MS"/>
              <a:buChar char="•"/>
              <a:tabLst>
                <a:tab pos="305435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Frontend: HTML5,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CSS3,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JavaScript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,java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responsive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UI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design</a:t>
            </a:r>
            <a:endParaRPr sz="2600" dirty="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53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Backend: Java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Boot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3.2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RESTful</a:t>
            </a:r>
            <a:r>
              <a:rPr sz="2600" spc="-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r>
              <a:rPr sz="26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(runs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port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8080)</a:t>
            </a:r>
            <a:endParaRPr sz="2600" dirty="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61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Database: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MySQL</a:t>
            </a:r>
            <a:r>
              <a:rPr sz="26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JPA/Hibernate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ORM for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persistence</a:t>
            </a:r>
            <a:endParaRPr sz="2600" dirty="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53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Deployment: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Maven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build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tool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Spring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Boot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embedded</a:t>
            </a:r>
            <a:r>
              <a:rPr sz="26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Tomcat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30F8FA-83A5-F5EC-34D8-67B86DA43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00200"/>
            <a:ext cx="6619240" cy="44428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86200" y="685800"/>
            <a:ext cx="4618990" cy="1336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sz="4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Literature Review</a:t>
            </a:r>
            <a:br>
              <a:rPr lang="en-IN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pc="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12C9F4-29F8-16A5-A0F5-E109A10A2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535295"/>
              </p:ext>
            </p:extLst>
          </p:nvPr>
        </p:nvGraphicFramePr>
        <p:xfrm>
          <a:off x="323431" y="1600200"/>
          <a:ext cx="11545138" cy="48004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10564">
                  <a:extLst>
                    <a:ext uri="{9D8B030D-6E8A-4147-A177-3AD203B41FA5}">
                      <a16:colId xmlns:a16="http://schemas.microsoft.com/office/drawing/2014/main" val="2696886738"/>
                    </a:ext>
                  </a:extLst>
                </a:gridCol>
                <a:gridCol w="1615075">
                  <a:extLst>
                    <a:ext uri="{9D8B030D-6E8A-4147-A177-3AD203B41FA5}">
                      <a16:colId xmlns:a16="http://schemas.microsoft.com/office/drawing/2014/main" val="293205746"/>
                    </a:ext>
                  </a:extLst>
                </a:gridCol>
                <a:gridCol w="2242580">
                  <a:extLst>
                    <a:ext uri="{9D8B030D-6E8A-4147-A177-3AD203B41FA5}">
                      <a16:colId xmlns:a16="http://schemas.microsoft.com/office/drawing/2014/main" val="4225854158"/>
                    </a:ext>
                  </a:extLst>
                </a:gridCol>
                <a:gridCol w="2029001">
                  <a:extLst>
                    <a:ext uri="{9D8B030D-6E8A-4147-A177-3AD203B41FA5}">
                      <a16:colId xmlns:a16="http://schemas.microsoft.com/office/drawing/2014/main" val="4103727348"/>
                    </a:ext>
                  </a:extLst>
                </a:gridCol>
                <a:gridCol w="1649306">
                  <a:extLst>
                    <a:ext uri="{9D8B030D-6E8A-4147-A177-3AD203B41FA5}">
                      <a16:colId xmlns:a16="http://schemas.microsoft.com/office/drawing/2014/main" val="3251919193"/>
                    </a:ext>
                  </a:extLst>
                </a:gridCol>
                <a:gridCol w="1649306">
                  <a:extLst>
                    <a:ext uri="{9D8B030D-6E8A-4147-A177-3AD203B41FA5}">
                      <a16:colId xmlns:a16="http://schemas.microsoft.com/office/drawing/2014/main" val="3307887901"/>
                    </a:ext>
                  </a:extLst>
                </a:gridCol>
                <a:gridCol w="1649306">
                  <a:extLst>
                    <a:ext uri="{9D8B030D-6E8A-4147-A177-3AD203B41FA5}">
                      <a16:colId xmlns:a16="http://schemas.microsoft.com/office/drawing/2014/main" val="504589512"/>
                    </a:ext>
                  </a:extLst>
                </a:gridCol>
              </a:tblGrid>
              <a:tr h="350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S. No.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Author(s), Year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Title of Study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Problem Addressed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Methodology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Key Findings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Limitations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 anchor="ctr"/>
                </a:tc>
                <a:extLst>
                  <a:ext uri="{0D108BD9-81ED-4DB2-BD59-A6C34878D82A}">
                    <a16:rowId xmlns:a16="http://schemas.microsoft.com/office/drawing/2014/main" val="373086312"/>
                  </a:ext>
                </a:extLst>
              </a:tr>
              <a:tr h="111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</a:t>
                      </a: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Ali &amp; Joseph, 2020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Order Management Module for Agricultural Marketplace Using Java EE (2020)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No systematic order placement and tracking system for farm produce buyers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Java EE with JDBC-backed order workflow: placement, confirmation, and status update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End-to-end order tracking reduced consumer complaints and improved fulfillment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No logistics API integration; delivery status updated manually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extLst>
                  <a:ext uri="{0D108BD9-81ED-4DB2-BD59-A6C34878D82A}">
                    <a16:rowId xmlns:a16="http://schemas.microsoft.com/office/drawing/2014/main" val="98059275"/>
                  </a:ext>
                </a:extLst>
              </a:tr>
              <a:tr h="936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</a:t>
                      </a: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Kumar &amp; Patel, 2021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Product Rating and Review System for Java-Based Agri Marketplace (2021)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Absence of trust mechanism between unknown farmers and consumers online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Java Servlet module with MySQL-stored ratings and aggregate review display per product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Star-rating and feedback system increased consumer trust and repeat purchases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Ratings not verified by purchase history; susceptible to fake reviews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extLst>
                  <a:ext uri="{0D108BD9-81ED-4DB2-BD59-A6C34878D82A}">
                    <a16:rowId xmlns:a16="http://schemas.microsoft.com/office/drawing/2014/main" val="2404867456"/>
                  </a:ext>
                </a:extLst>
              </a:tr>
              <a:tr h="1005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</a:t>
                      </a: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Sharma et al., 2022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Admin Dashboard for Agricultural E-Commerce Platform Using Java and JDBC (2022)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Platform administrators lacked tools for user management and sales monitoring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Java Servlet admin module with JDBC queries for user control, reports, and moderation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Centralized admin panel improved dispute resolution and platform governance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No automated alerts; admin actions were entirely manual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extLst>
                  <a:ext uri="{0D108BD9-81ED-4DB2-BD59-A6C34878D82A}">
                    <a16:rowId xmlns:a16="http://schemas.microsoft.com/office/drawing/2014/main" val="1710285503"/>
                  </a:ext>
                </a:extLst>
              </a:tr>
              <a:tr h="1005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4..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Nambiar &amp; Das, 2023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FarmerConnect: Full-Stack Java Web Marketplace with MVC Architecture (2023)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Fragmented agri marketplace systems lacked scalable and maintainable architecture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MVC pattern with Java Servlets (controller), JSP (view), Java Beans + JDBC (model)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MVC separation improved code maintainability and enabled faster feature addition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No cloud deployment; no mobile app; payment limited to cash on delivery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3124" marR="33124" marT="22083" marB="22083"/>
                </a:tc>
                <a:extLst>
                  <a:ext uri="{0D108BD9-81ED-4DB2-BD59-A6C34878D82A}">
                    <a16:rowId xmlns:a16="http://schemas.microsoft.com/office/drawing/2014/main" val="1380810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43C281-443B-A11E-270A-9081E1C0472B}"/>
              </a:ext>
            </a:extLst>
          </p:cNvPr>
          <p:cNvSpPr txBox="1"/>
          <p:nvPr/>
        </p:nvSpPr>
        <p:spPr>
          <a:xfrm>
            <a:off x="2895600" y="158926"/>
            <a:ext cx="60943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97711" y="956944"/>
            <a:ext cx="331216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35" dirty="0"/>
              <a:t>Key</a:t>
            </a:r>
            <a:r>
              <a:rPr spc="-135" dirty="0"/>
              <a:t> </a:t>
            </a:r>
            <a:r>
              <a:rPr spc="10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892227"/>
            <a:ext cx="6664959" cy="4784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1450" indent="292100">
              <a:lnSpc>
                <a:spcPct val="149200"/>
              </a:lnSpc>
              <a:spcBef>
                <a:spcPts val="90"/>
              </a:spcBef>
              <a:buFont typeface="Trebuchet MS"/>
              <a:buChar char="•"/>
              <a:tabLst>
                <a:tab pos="30480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listing</a:t>
            </a:r>
            <a:r>
              <a:rPr sz="2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category:</a:t>
            </a:r>
            <a:r>
              <a:rPr sz="26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Vegetables,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Fruits, Dairy,</a:t>
            </a:r>
            <a:r>
              <a:rPr sz="2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Grains</a:t>
            </a:r>
            <a:endParaRPr sz="2600">
              <a:latin typeface="Times New Roman"/>
              <a:cs typeface="Times New Roman"/>
            </a:endParaRPr>
          </a:p>
          <a:p>
            <a:pPr marL="12700" marR="5080" indent="-10160">
              <a:lnSpc>
                <a:spcPct val="149300"/>
              </a:lnSpc>
              <a:spcBef>
                <a:spcPts val="75"/>
              </a:spcBef>
              <a:buSzPct val="94230"/>
              <a:buChar char="•"/>
              <a:tabLst>
                <a:tab pos="12827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	Cart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calculation,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delivery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fee, and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checkout</a:t>
            </a:r>
            <a:endParaRPr sz="2600">
              <a:latin typeface="Times New Roman"/>
              <a:cs typeface="Times New Roman"/>
            </a:endParaRPr>
          </a:p>
          <a:p>
            <a:pPr marL="12700" marR="299085" indent="198120">
              <a:lnSpc>
                <a:spcPts val="4730"/>
              </a:lnSpc>
              <a:spcBef>
                <a:spcPts val="350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lifecycle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tracking: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PLACED,</a:t>
            </a:r>
            <a:r>
              <a:rPr sz="2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PACKED,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SHIPPED,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DELIVERED</a:t>
            </a:r>
            <a:endParaRPr sz="2600">
              <a:latin typeface="Times New Roman"/>
              <a:cs typeface="Times New Roman"/>
            </a:endParaRPr>
          </a:p>
          <a:p>
            <a:pPr marL="210820" indent="-198120">
              <a:lnSpc>
                <a:spcPct val="100000"/>
              </a:lnSpc>
              <a:spcBef>
                <a:spcPts val="1110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Farmer</a:t>
            </a:r>
            <a:r>
              <a:rPr sz="2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profile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pages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showcasing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sellers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1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8867" y="1524000"/>
            <a:ext cx="527685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1200" y="457200"/>
            <a:ext cx="9165272" cy="1823402"/>
          </a:xfrm>
          <a:prstGeom prst="rect">
            <a:avLst/>
          </a:prstGeom>
        </p:spPr>
        <p:txBody>
          <a:bodyPr vert="horz" wrap="square" lIns="0" tIns="407924" rIns="0" bIns="0" rtlCol="0">
            <a:spAutoFit/>
          </a:bodyPr>
          <a:lstStyle/>
          <a:p>
            <a:pPr marL="760095">
              <a:lnSpc>
                <a:spcPct val="100000"/>
              </a:lnSpc>
              <a:spcBef>
                <a:spcPts val="105"/>
              </a:spcBef>
            </a:pPr>
            <a:r>
              <a:rPr spc="310" dirty="0"/>
              <a:t>How</a:t>
            </a:r>
            <a:r>
              <a:rPr spc="-110" dirty="0"/>
              <a:t> </a:t>
            </a:r>
            <a:r>
              <a:rPr spc="105" dirty="0"/>
              <a:t>FarmDirect</a:t>
            </a:r>
            <a:r>
              <a:rPr spc="-40" dirty="0"/>
              <a:t> </a:t>
            </a:r>
            <a:r>
              <a:rPr spc="5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4418" y="5022082"/>
            <a:ext cx="5947410" cy="1637664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18110" indent="-105410">
              <a:lnSpc>
                <a:spcPct val="100000"/>
              </a:lnSpc>
              <a:spcBef>
                <a:spcPts val="970"/>
              </a:spcBef>
              <a:buChar char="•"/>
              <a:tabLst>
                <a:tab pos="11811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1: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Browse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fresh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produce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4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2,400+</a:t>
            </a:r>
            <a:r>
              <a:rPr sz="1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farmers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category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search</a:t>
            </a:r>
            <a:endParaRPr sz="1400" dirty="0">
              <a:latin typeface="Times New Roman"/>
              <a:cs typeface="Times New Roman"/>
            </a:endParaRPr>
          </a:p>
          <a:p>
            <a:pPr marL="118110" indent="-105410">
              <a:lnSpc>
                <a:spcPct val="100000"/>
              </a:lnSpc>
              <a:spcBef>
                <a:spcPts val="875"/>
              </a:spcBef>
              <a:buChar char="•"/>
              <a:tabLst>
                <a:tab pos="11811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2: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items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cart;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shown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endParaRPr sz="1400" dirty="0">
              <a:latin typeface="Times New Roman"/>
              <a:cs typeface="Times New Roman"/>
            </a:endParaRPr>
          </a:p>
          <a:p>
            <a:pPr marL="118110" indent="-105410">
              <a:lnSpc>
                <a:spcPct val="100000"/>
              </a:lnSpc>
              <a:spcBef>
                <a:spcPts val="795"/>
              </a:spcBef>
              <a:buChar char="•"/>
              <a:tabLst>
                <a:tab pos="11811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3: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Secure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checkout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instant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stock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deduction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farmer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notification</a:t>
            </a:r>
            <a:endParaRPr sz="1400" dirty="0">
              <a:latin typeface="Times New Roman"/>
              <a:cs typeface="Times New Roman"/>
            </a:endParaRPr>
          </a:p>
          <a:p>
            <a:pPr marL="118110" indent="-105410">
              <a:lnSpc>
                <a:spcPct val="100000"/>
              </a:lnSpc>
              <a:spcBef>
                <a:spcPts val="875"/>
              </a:spcBef>
              <a:buChar char="•"/>
              <a:tabLst>
                <a:tab pos="11811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4: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PLACED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DELIVERED</a:t>
            </a:r>
            <a:r>
              <a:rPr sz="1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via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REST</a:t>
            </a:r>
            <a:r>
              <a:rPr sz="1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API</a:t>
            </a:r>
            <a:endParaRPr sz="1400" dirty="0">
              <a:latin typeface="Times New Roman"/>
              <a:cs typeface="Times New Roman"/>
            </a:endParaRPr>
          </a:p>
          <a:p>
            <a:pPr marL="118110" indent="-105410">
              <a:lnSpc>
                <a:spcPct val="100000"/>
              </a:lnSpc>
              <a:spcBef>
                <a:spcPts val="875"/>
              </a:spcBef>
              <a:buChar char="•"/>
              <a:tabLst>
                <a:tab pos="11811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5: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Farmers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manage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inventory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listings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1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endpoints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0"/>
            <a:ext cx="11153775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6095999"/>
            <a:ext cx="990600" cy="761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91775" y="0"/>
            <a:ext cx="776605" cy="1214755"/>
            <a:chOff x="10391775" y="0"/>
            <a:chExt cx="776605" cy="12147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1775" y="0"/>
              <a:ext cx="776287" cy="12143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9400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125" y="228600"/>
            <a:ext cx="1143000" cy="1504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15600" y="0"/>
            <a:ext cx="1676400" cy="16764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825" y="1971674"/>
            <a:ext cx="12068175" cy="4886324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0095">
              <a:lnSpc>
                <a:spcPts val="4870"/>
              </a:lnSpc>
              <a:spcBef>
                <a:spcPts val="105"/>
              </a:spcBef>
            </a:pPr>
            <a:r>
              <a:rPr spc="204" dirty="0"/>
              <a:t>Application</a:t>
            </a:r>
            <a:r>
              <a:rPr spc="-105" dirty="0"/>
              <a:t> </a:t>
            </a:r>
            <a:r>
              <a:rPr spc="550" dirty="0"/>
              <a:t>–</a:t>
            </a:r>
            <a:r>
              <a:rPr spc="-85" dirty="0"/>
              <a:t> </a:t>
            </a:r>
            <a:r>
              <a:rPr spc="114" dirty="0"/>
              <a:t>software</a:t>
            </a:r>
            <a:r>
              <a:rPr spc="-150" dirty="0"/>
              <a:t> </a:t>
            </a:r>
            <a:r>
              <a:rPr spc="275" dirty="0"/>
              <a:t>(JAVA)</a:t>
            </a:r>
          </a:p>
          <a:p>
            <a:pPr marL="760095">
              <a:lnSpc>
                <a:spcPts val="223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Frontend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at: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index.html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(HTML/CSS/JS)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6559" rIns="0" bIns="0" rtlCol="0">
            <a:spAutoFit/>
          </a:bodyPr>
          <a:lstStyle/>
          <a:p>
            <a:pPr marL="760095">
              <a:lnSpc>
                <a:spcPct val="100000"/>
              </a:lnSpc>
              <a:spcBef>
                <a:spcPts val="105"/>
              </a:spcBef>
            </a:pPr>
            <a:r>
              <a:rPr dirty="0"/>
              <a:t>Limitations</a:t>
            </a:r>
            <a:r>
              <a:rPr spc="-135" dirty="0"/>
              <a:t> </a:t>
            </a:r>
            <a:r>
              <a:rPr spc="204" dirty="0"/>
              <a:t>&amp;</a:t>
            </a:r>
            <a:r>
              <a:rPr spc="-105" dirty="0"/>
              <a:t> </a:t>
            </a:r>
            <a:r>
              <a:rPr dirty="0"/>
              <a:t>Future</a:t>
            </a:r>
            <a:r>
              <a:rPr spc="-100" dirty="0"/>
              <a:t> </a:t>
            </a:r>
            <a:r>
              <a:rPr spc="425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597" y="2044020"/>
            <a:ext cx="7973378" cy="4434547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1440815" indent="291465">
              <a:lnSpc>
                <a:spcPts val="3080"/>
              </a:lnSpc>
              <a:spcBef>
                <a:spcPts val="260"/>
              </a:spcBef>
              <a:buFont typeface="Trebuchet MS"/>
              <a:buChar char="•"/>
              <a:tabLst>
                <a:tab pos="304165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Current version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runs</a:t>
            </a:r>
            <a:r>
              <a:rPr sz="2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localhost;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deployment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(AWS/GCP)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yet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configured</a:t>
            </a:r>
            <a:endParaRPr sz="2600" dirty="0">
              <a:latin typeface="Times New Roman"/>
              <a:cs typeface="Times New Roman"/>
            </a:endParaRPr>
          </a:p>
          <a:p>
            <a:pPr marL="12700" marR="785495" indent="198120">
              <a:lnSpc>
                <a:spcPts val="3080"/>
              </a:lnSpc>
              <a:spcBef>
                <a:spcPts val="7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farmer</a:t>
            </a:r>
            <a:r>
              <a:rPr sz="2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login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panel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current prototype</a:t>
            </a:r>
            <a:endParaRPr sz="2600" dirty="0">
              <a:latin typeface="Times New Roman"/>
              <a:cs typeface="Times New Roman"/>
            </a:endParaRPr>
          </a:p>
          <a:p>
            <a:pPr marL="12700" marR="5080" indent="197485">
              <a:lnSpc>
                <a:spcPts val="3080"/>
              </a:lnSpc>
              <a:spcBef>
                <a:spcPts val="75"/>
              </a:spcBef>
              <a:buChar char="•"/>
              <a:tabLst>
                <a:tab pos="210185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gateway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integration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(Razorpay/UPI)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planned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not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implemented</a:t>
            </a:r>
            <a:endParaRPr sz="2600" dirty="0">
              <a:latin typeface="Times New Roman"/>
              <a:cs typeface="Times New Roman"/>
            </a:endParaRPr>
          </a:p>
          <a:p>
            <a:pPr marL="12700" marR="748030" indent="198120">
              <a:lnSpc>
                <a:spcPts val="3160"/>
              </a:lnSpc>
              <a:spcBef>
                <a:spcPts val="5"/>
              </a:spcBef>
              <a:buChar char="•"/>
              <a:tabLst>
                <a:tab pos="21082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app</a:t>
            </a:r>
            <a:r>
              <a:rPr sz="2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version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6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Android/React</a:t>
            </a:r>
            <a:r>
              <a:rPr sz="2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Native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future enhancement</a:t>
            </a:r>
            <a:endParaRPr sz="2600" dirty="0">
              <a:latin typeface="Times New Roman"/>
              <a:cs typeface="Times New Roman"/>
            </a:endParaRPr>
          </a:p>
          <a:p>
            <a:pPr marL="192405" indent="-179705">
              <a:lnSpc>
                <a:spcPts val="2965"/>
              </a:lnSpc>
              <a:buChar char="•"/>
              <a:tabLst>
                <a:tab pos="192405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AI-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2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price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forecasting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added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Times New Roman"/>
                <a:cs typeface="Times New Roman"/>
              </a:rPr>
              <a:t>phase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5746" y="1600200"/>
            <a:ext cx="401002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38400" y="931546"/>
            <a:ext cx="289560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25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18700" y="2057400"/>
            <a:ext cx="5745480" cy="32023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92735">
              <a:lnSpc>
                <a:spcPct val="99900"/>
              </a:lnSpc>
              <a:spcBef>
                <a:spcPts val="130"/>
              </a:spcBef>
              <a:buFont typeface="Trebuchet MS"/>
              <a:buChar char="•"/>
              <a:tabLst>
                <a:tab pos="305435" algn="l"/>
              </a:tabLst>
            </a:pPr>
            <a:r>
              <a:rPr dirty="0"/>
              <a:t>FarmDirect</a:t>
            </a:r>
            <a:r>
              <a:rPr spc="-60" dirty="0"/>
              <a:t> </a:t>
            </a:r>
            <a:r>
              <a:rPr dirty="0"/>
              <a:t>successfully</a:t>
            </a:r>
            <a:r>
              <a:rPr spc="-40" dirty="0"/>
              <a:t> </a:t>
            </a:r>
            <a:r>
              <a:rPr dirty="0"/>
              <a:t>bridges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5" dirty="0"/>
              <a:t>gap </a:t>
            </a:r>
            <a:r>
              <a:rPr dirty="0"/>
              <a:t>between</a:t>
            </a:r>
            <a:r>
              <a:rPr spc="-20" dirty="0"/>
              <a:t> </a:t>
            </a:r>
            <a:r>
              <a:rPr dirty="0"/>
              <a:t>farmers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consumers</a:t>
            </a:r>
            <a:r>
              <a:rPr spc="-2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spc="-20" dirty="0"/>
              <a:t>Java </a:t>
            </a:r>
            <a:r>
              <a:rPr dirty="0"/>
              <a:t>web</a:t>
            </a:r>
            <a:r>
              <a:rPr spc="-35" dirty="0"/>
              <a:t> </a:t>
            </a:r>
            <a:r>
              <a:rPr spc="-10" dirty="0"/>
              <a:t>technology.</a:t>
            </a:r>
          </a:p>
          <a:p>
            <a:pPr marL="12700" marR="294640" indent="-12700">
              <a:lnSpc>
                <a:spcPts val="3150"/>
              </a:lnSpc>
              <a:spcBef>
                <a:spcPts val="45"/>
              </a:spcBef>
              <a:buSzPct val="96153"/>
              <a:buChar char="•"/>
              <a:tabLst>
                <a:tab pos="128270" algn="l"/>
              </a:tabLst>
            </a:pPr>
            <a:r>
              <a:rPr dirty="0"/>
              <a:t>	the</a:t>
            </a:r>
            <a:r>
              <a:rPr spc="-50" dirty="0"/>
              <a:t> </a:t>
            </a:r>
            <a:r>
              <a:rPr dirty="0"/>
              <a:t>rest</a:t>
            </a:r>
            <a:r>
              <a:rPr spc="5" dirty="0"/>
              <a:t> </a:t>
            </a:r>
            <a:r>
              <a:rPr dirty="0"/>
              <a:t>api</a:t>
            </a:r>
            <a:r>
              <a:rPr spc="-60" dirty="0"/>
              <a:t> </a:t>
            </a:r>
            <a:r>
              <a:rPr dirty="0"/>
              <a:t>architecture</a:t>
            </a:r>
            <a:r>
              <a:rPr spc="-40" dirty="0"/>
              <a:t> </a:t>
            </a:r>
            <a:r>
              <a:rPr dirty="0"/>
              <a:t>ensures</a:t>
            </a:r>
            <a:r>
              <a:rPr spc="20" dirty="0"/>
              <a:t> </a:t>
            </a:r>
            <a:r>
              <a:rPr spc="-10" dirty="0"/>
              <a:t>scalable </a:t>
            </a:r>
            <a:r>
              <a:rPr dirty="0"/>
              <a:t>maintainable</a:t>
            </a:r>
            <a:r>
              <a:rPr spc="-40" dirty="0"/>
              <a:t> </a:t>
            </a:r>
            <a:r>
              <a:rPr dirty="0"/>
              <a:t>extensible</a:t>
            </a:r>
            <a:r>
              <a:rPr spc="-40" dirty="0"/>
              <a:t> </a:t>
            </a:r>
            <a:r>
              <a:rPr dirty="0"/>
              <a:t>service</a:t>
            </a:r>
            <a:r>
              <a:rPr spc="-40" dirty="0"/>
              <a:t> </a:t>
            </a:r>
            <a:r>
              <a:rPr spc="-10" dirty="0"/>
              <a:t>design</a:t>
            </a:r>
            <a:r>
              <a:rPr b="1" spc="-10" dirty="0">
                <a:latin typeface="Times New Roman"/>
                <a:cs typeface="Times New Roman"/>
              </a:rPr>
              <a:t>.</a:t>
            </a:r>
            <a:r>
              <a:rPr spc="-10" dirty="0"/>
              <a:t>.</a:t>
            </a:r>
          </a:p>
          <a:p>
            <a:pPr marL="204470" indent="-191770">
              <a:lnSpc>
                <a:spcPts val="2970"/>
              </a:lnSpc>
              <a:buChar char="•"/>
              <a:tabLst>
                <a:tab pos="204470" algn="l"/>
              </a:tabLst>
            </a:pP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demonstrates</a:t>
            </a:r>
            <a:r>
              <a:rPr spc="-45" dirty="0"/>
              <a:t> </a:t>
            </a:r>
            <a:r>
              <a:rPr spc="-25" dirty="0"/>
              <a:t>how</a:t>
            </a:r>
          </a:p>
          <a:p>
            <a:pPr marL="12700" marR="750570">
              <a:lnSpc>
                <a:spcPct val="101099"/>
              </a:lnSpc>
            </a:pPr>
            <a:r>
              <a:rPr dirty="0"/>
              <a:t>technology</a:t>
            </a:r>
            <a:r>
              <a:rPr spc="-4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empower</a:t>
            </a:r>
            <a:r>
              <a:rPr spc="-50" dirty="0"/>
              <a:t> </a:t>
            </a:r>
            <a:r>
              <a:rPr dirty="0"/>
              <a:t>farmers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reduce</a:t>
            </a:r>
            <a:r>
              <a:rPr spc="-20" dirty="0"/>
              <a:t> </a:t>
            </a:r>
            <a:r>
              <a:rPr spc="-10" dirty="0"/>
              <a:t>poverty.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9204" y="1564531"/>
            <a:ext cx="5972175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5487" y="476567"/>
            <a:ext cx="293878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8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4645" y="1805622"/>
            <a:ext cx="11178540" cy="4941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3657600" indent="388620">
              <a:lnSpc>
                <a:spcPct val="100000"/>
              </a:lnSpc>
              <a:spcBef>
                <a:spcPts val="125"/>
              </a:spcBef>
              <a:buAutoNum type="arabicPlain"/>
              <a:tabLst>
                <a:tab pos="401320" algn="l"/>
              </a:tabLst>
            </a:pPr>
            <a:r>
              <a:rPr sz="2000" spc="140" dirty="0">
                <a:solidFill>
                  <a:srgbClr val="FFFFFF"/>
                </a:solidFill>
                <a:latin typeface="Trebuchet MS"/>
                <a:cs typeface="Trebuchet MS"/>
              </a:rPr>
              <a:t>Craig</a:t>
            </a:r>
            <a:r>
              <a:rPr sz="20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Walls,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rebuchet MS"/>
                <a:cs typeface="Trebuchet MS"/>
              </a:rPr>
              <a:t>Spring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rebuchet MS"/>
                <a:cs typeface="Trebuchet MS"/>
              </a:rPr>
              <a:t>Boot</a:t>
            </a:r>
            <a:r>
              <a:rPr sz="20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rebuchet MS"/>
                <a:cs typeface="Trebuchet MS"/>
              </a:rPr>
              <a:t>Action,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75" dirty="0">
                <a:solidFill>
                  <a:srgbClr val="FFFFFF"/>
                </a:solidFill>
                <a:latin typeface="Trebuchet MS"/>
                <a:cs typeface="Trebuchet MS"/>
              </a:rPr>
              <a:t>Manning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Publications,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2022.</a:t>
            </a:r>
            <a:r>
              <a:rPr sz="2000" u="heavy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Trebuchet MS"/>
                <a:cs typeface="Trebuchet MS"/>
                <a:hlinkClick r:id="rId2"/>
              </a:rPr>
              <a:t>https://www.manning.com/books/spring-</a:t>
            </a:r>
            <a:r>
              <a:rPr sz="2000" u="heavy" spc="100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Trebuchet MS"/>
                <a:cs typeface="Trebuchet MS"/>
                <a:hlinkClick r:id="rId2"/>
              </a:rPr>
              <a:t>boot-</a:t>
            </a:r>
            <a:r>
              <a:rPr sz="2000" u="heavy" spc="-55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Trebuchet MS"/>
                <a:cs typeface="Trebuchet MS"/>
                <a:hlinkClick r:id="rId2"/>
              </a:rPr>
              <a:t>in-</a:t>
            </a:r>
            <a:r>
              <a:rPr sz="2000" u="heavy" spc="95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Trebuchet MS"/>
                <a:cs typeface="Trebuchet MS"/>
                <a:hlinkClick r:id="rId2"/>
              </a:rPr>
              <a:t>action</a:t>
            </a:r>
            <a:endParaRPr sz="2000">
              <a:latin typeface="Trebuchet MS"/>
              <a:cs typeface="Trebuchet MS"/>
            </a:endParaRPr>
          </a:p>
          <a:p>
            <a:pPr marL="401320" indent="-388620">
              <a:lnSpc>
                <a:spcPct val="100000"/>
              </a:lnSpc>
              <a:spcBef>
                <a:spcPts val="985"/>
              </a:spcBef>
              <a:buAutoNum type="arabicPlain"/>
              <a:tabLst>
                <a:tab pos="401320" algn="l"/>
              </a:tabLst>
            </a:pPr>
            <a:r>
              <a:rPr sz="2000" spc="100" dirty="0">
                <a:solidFill>
                  <a:srgbClr val="FFFFFF"/>
                </a:solidFill>
                <a:latin typeface="Trebuchet MS"/>
                <a:cs typeface="Trebuchet MS"/>
              </a:rPr>
              <a:t>Anghel,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rebuchet MS"/>
                <a:cs typeface="Trebuchet MS"/>
              </a:rPr>
              <a:t>Leonard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27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95" dirty="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EE</a:t>
            </a:r>
            <a:r>
              <a:rPr sz="20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Trebuchet MS"/>
                <a:cs typeface="Trebuchet MS"/>
              </a:rPr>
              <a:t>Development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rebuchet MS"/>
                <a:cs typeface="Trebuchet MS"/>
              </a:rPr>
              <a:t>NetBeans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8,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Packt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Publishing,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40" dirty="0">
                <a:solidFill>
                  <a:srgbClr val="FFFFFF"/>
                </a:solidFill>
                <a:latin typeface="Trebuchet MS"/>
                <a:cs typeface="Trebuchet MS"/>
              </a:rPr>
              <a:t>2023.</a:t>
            </a:r>
            <a:r>
              <a:rPr sz="2000" u="heavy" spc="40" dirty="0">
                <a:solidFill>
                  <a:srgbClr val="AFAFAF"/>
                </a:solidFill>
                <a:uFill>
                  <a:solidFill>
                    <a:srgbClr val="AFAFAF"/>
                  </a:solidFill>
                </a:uFill>
                <a:latin typeface="Trebuchet MS"/>
                <a:cs typeface="Trebuchet MS"/>
                <a:hlinkClick r:id="rId3"/>
              </a:rPr>
              <a:t>https://www.packtpub.com/</a:t>
            </a:r>
            <a:endParaRPr sz="2000">
              <a:latin typeface="Trebuchet MS"/>
              <a:cs typeface="Trebuchet MS"/>
            </a:endParaRPr>
          </a:p>
          <a:p>
            <a:pPr marL="12700" marR="2642235" indent="388620">
              <a:lnSpc>
                <a:spcPct val="100000"/>
              </a:lnSpc>
              <a:spcBef>
                <a:spcPts val="1055"/>
              </a:spcBef>
              <a:buAutoNum type="arabicPlain" startAt="3"/>
              <a:tabLst>
                <a:tab pos="401320" algn="l"/>
              </a:tabLst>
            </a:pPr>
            <a:r>
              <a:rPr sz="2000" spc="60" dirty="0">
                <a:solidFill>
                  <a:srgbClr val="FFFFFF"/>
                </a:solidFill>
                <a:latin typeface="Trebuchet MS"/>
                <a:cs typeface="Trebuchet MS"/>
              </a:rPr>
              <a:t>Spring</a:t>
            </a:r>
            <a:r>
              <a:rPr sz="20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rebuchet MS"/>
                <a:cs typeface="Trebuchet MS"/>
              </a:rPr>
              <a:t>Framework</a:t>
            </a:r>
            <a:r>
              <a:rPr sz="20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95" dirty="0">
                <a:solidFill>
                  <a:srgbClr val="FFFFFF"/>
                </a:solidFill>
                <a:latin typeface="Trebuchet MS"/>
                <a:cs typeface="Trebuchet MS"/>
              </a:rPr>
              <a:t>Docs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270" dirty="0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rebuchet MS"/>
                <a:cs typeface="Trebuchet MS"/>
              </a:rPr>
              <a:t>Spring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rebuchet MS"/>
                <a:cs typeface="Trebuchet MS"/>
              </a:rPr>
              <a:t>Boot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3.2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Reference</a:t>
            </a:r>
            <a:r>
              <a:rPr sz="20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rebuchet MS"/>
                <a:cs typeface="Trebuchet MS"/>
              </a:rPr>
              <a:t>Guide,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2024.</a:t>
            </a:r>
            <a:r>
              <a:rPr sz="2000" dirty="0">
                <a:solidFill>
                  <a:srgbClr val="AFAFAF"/>
                </a:solidFill>
                <a:latin typeface="Trebuchet MS"/>
                <a:cs typeface="Trebuchet MS"/>
                <a:hlinkClick r:id="rId4"/>
              </a:rPr>
              <a:t>https://docs.spring.io/spring-</a:t>
            </a:r>
            <a:r>
              <a:rPr sz="2000" spc="-10" dirty="0">
                <a:solidFill>
                  <a:srgbClr val="AFAFAF"/>
                </a:solidFill>
                <a:latin typeface="Trebuchet MS"/>
                <a:cs typeface="Trebuchet MS"/>
                <a:hlinkClick r:id="rId4"/>
              </a:rPr>
              <a:t>boot/docs/current/reference/html/</a:t>
            </a:r>
            <a:endParaRPr sz="2000">
              <a:latin typeface="Trebuchet MS"/>
              <a:cs typeface="Trebuchet MS"/>
            </a:endParaRPr>
          </a:p>
          <a:p>
            <a:pPr marL="12700" marR="5124450" indent="388620">
              <a:lnSpc>
                <a:spcPct val="100000"/>
              </a:lnSpc>
              <a:spcBef>
                <a:spcPts val="980"/>
              </a:spcBef>
              <a:buAutoNum type="arabicPlain" startAt="3"/>
              <a:tabLst>
                <a:tab pos="401320" algn="l"/>
              </a:tabLst>
            </a:pPr>
            <a:r>
              <a:rPr sz="2000" spc="155" dirty="0">
                <a:solidFill>
                  <a:srgbClr val="FFFFFF"/>
                </a:solidFill>
                <a:latin typeface="Trebuchet MS"/>
                <a:cs typeface="Trebuchet MS"/>
              </a:rPr>
              <a:t>MySQL</a:t>
            </a:r>
            <a:r>
              <a:rPr sz="20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8.0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Reference</a:t>
            </a:r>
            <a:r>
              <a:rPr sz="20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rebuchet MS"/>
                <a:cs typeface="Trebuchet MS"/>
              </a:rPr>
              <a:t>Manual,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35" dirty="0">
                <a:solidFill>
                  <a:srgbClr val="FFFFFF"/>
                </a:solidFill>
                <a:latin typeface="Trebuchet MS"/>
                <a:cs typeface="Trebuchet MS"/>
              </a:rPr>
              <a:t>Oracle</a:t>
            </a:r>
            <a:r>
              <a:rPr sz="20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rebuchet MS"/>
                <a:cs typeface="Trebuchet MS"/>
              </a:rPr>
              <a:t>Corp,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2024.</a:t>
            </a:r>
            <a:r>
              <a:rPr sz="2000" spc="-10" dirty="0">
                <a:solidFill>
                  <a:srgbClr val="AFAFAF"/>
                </a:solidFill>
                <a:latin typeface="Trebuchet MS"/>
                <a:cs typeface="Trebuchet MS"/>
                <a:hlinkClick r:id="rId5"/>
              </a:rPr>
              <a:t>https://dev.mysql.com/doc/refman/8.0/en/</a:t>
            </a:r>
            <a:endParaRPr sz="2000">
              <a:latin typeface="Trebuchet MS"/>
              <a:cs typeface="Trebuchet MS"/>
            </a:endParaRPr>
          </a:p>
          <a:p>
            <a:pPr marL="12700" marR="5080" indent="388620">
              <a:lnSpc>
                <a:spcPct val="100000"/>
              </a:lnSpc>
              <a:spcBef>
                <a:spcPts val="985"/>
              </a:spcBef>
              <a:buAutoNum type="arabicPlain" startAt="3"/>
              <a:tabLst>
                <a:tab pos="401320" algn="l"/>
              </a:tabLst>
            </a:pP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Haris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45" dirty="0">
                <a:solidFill>
                  <a:srgbClr val="FFFFFF"/>
                </a:solidFill>
                <a:latin typeface="Trebuchet MS"/>
                <a:cs typeface="Trebuchet MS"/>
              </a:rPr>
              <a:t>Gacanin;</a:t>
            </a:r>
            <a:r>
              <a:rPr sz="20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rebuchet MS"/>
                <a:cs typeface="Trebuchet MS"/>
              </a:rPr>
              <a:t>Mark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rebuchet MS"/>
                <a:cs typeface="Trebuchet MS"/>
              </a:rPr>
              <a:t>Wagner,</a:t>
            </a:r>
            <a:r>
              <a:rPr sz="20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“2022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Artificial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rebuchet MS"/>
                <a:cs typeface="Trebuchet MS"/>
              </a:rPr>
              <a:t>Paradigm</a:t>
            </a:r>
            <a:r>
              <a:rPr sz="20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rebuchet MS"/>
                <a:cs typeface="Trebuchet MS"/>
              </a:rPr>
              <a:t>Customer </a:t>
            </a:r>
            <a:r>
              <a:rPr sz="2000" spc="85" dirty="0">
                <a:solidFill>
                  <a:srgbClr val="FFFFFF"/>
                </a:solidFill>
                <a:latin typeface="Trebuchet MS"/>
                <a:cs typeface="Trebuchet MS"/>
              </a:rPr>
              <a:t>Experience</a:t>
            </a:r>
            <a:r>
              <a:rPr sz="20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21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2000" spc="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Next-</a:t>
            </a:r>
            <a:r>
              <a:rPr sz="2000" spc="105" dirty="0">
                <a:solidFill>
                  <a:srgbClr val="FFFFFF"/>
                </a:solidFill>
                <a:latin typeface="Trebuchet MS"/>
                <a:cs typeface="Trebuchet MS"/>
              </a:rPr>
              <a:t>Generation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Networks:</a:t>
            </a:r>
            <a:r>
              <a:rPr sz="20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r>
              <a:rPr sz="20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21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000" spc="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Perspectives,"</a:t>
            </a:r>
            <a:r>
              <a:rPr sz="2000" spc="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IEEE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Network,</a:t>
            </a:r>
            <a:r>
              <a:rPr sz="2000" spc="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rebuchet MS"/>
                <a:cs typeface="Trebuchet MS"/>
              </a:rPr>
              <a:t>Volume:</a:t>
            </a:r>
            <a:r>
              <a:rPr sz="200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rebuchet MS"/>
                <a:cs typeface="Trebuchet MS"/>
              </a:rPr>
              <a:t>33</a:t>
            </a:r>
            <a:r>
              <a:rPr sz="2000" spc="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Issue:</a:t>
            </a:r>
            <a:r>
              <a:rPr sz="2000" spc="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sz="2000" spc="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AFAFAF"/>
                </a:solidFill>
                <a:latin typeface="Trebuchet MS"/>
                <a:cs typeface="Trebuchet MS"/>
                <a:hlinkClick r:id="rId6"/>
              </a:rPr>
              <a:t>https://ieeexplore.ieee.org/document/8642802</a:t>
            </a:r>
            <a:endParaRPr sz="2000">
              <a:latin typeface="Trebuchet MS"/>
              <a:cs typeface="Trebuchet MS"/>
            </a:endParaRPr>
          </a:p>
          <a:p>
            <a:pPr marL="12700" marR="81280" indent="388620">
              <a:lnSpc>
                <a:spcPct val="100000"/>
              </a:lnSpc>
              <a:spcBef>
                <a:spcPts val="1060"/>
              </a:spcBef>
              <a:buAutoNum type="arabicPlain" startAt="3"/>
              <a:tabLst>
                <a:tab pos="401320" algn="l"/>
              </a:tabLst>
            </a:pP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D.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Trebuchet MS"/>
                <a:cs typeface="Trebuchet MS"/>
              </a:rPr>
              <a:t>B.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50" dirty="0">
                <a:solidFill>
                  <a:srgbClr val="FFFFFF"/>
                </a:solidFill>
                <a:latin typeface="Trebuchet MS"/>
                <a:cs typeface="Trebuchet MS"/>
              </a:rPr>
              <a:t>Sanches</a:t>
            </a:r>
            <a:r>
              <a:rPr sz="20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25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Oliveira,</a:t>
            </a:r>
            <a:r>
              <a:rPr sz="20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al.,</a:t>
            </a:r>
            <a:r>
              <a:rPr sz="20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30" dirty="0">
                <a:solidFill>
                  <a:srgbClr val="FFFFFF"/>
                </a:solidFill>
                <a:latin typeface="Trebuchet MS"/>
                <a:cs typeface="Trebuchet MS"/>
              </a:rPr>
              <a:t>"Dynamic</a:t>
            </a:r>
            <a:r>
              <a:rPr sz="20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Pricing</a:t>
            </a:r>
            <a:r>
              <a:rPr sz="20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Electric</a:t>
            </a:r>
            <a:r>
              <a:rPr sz="20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Fleet</a:t>
            </a:r>
            <a:r>
              <a:rPr sz="20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95" dirty="0">
                <a:solidFill>
                  <a:srgbClr val="FFFFFF"/>
                </a:solidFill>
                <a:latin typeface="Trebuchet MS"/>
                <a:cs typeface="Trebuchet MS"/>
              </a:rPr>
              <a:t>Vehicle</a:t>
            </a:r>
            <a:r>
              <a:rPr sz="20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Trebuchet MS"/>
                <a:cs typeface="Trebuchet MS"/>
              </a:rPr>
              <a:t>Recharge</a:t>
            </a:r>
            <a:r>
              <a:rPr sz="20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rebuchet MS"/>
                <a:cs typeface="Trebuchet MS"/>
              </a:rPr>
              <a:t>at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Semi-Fast</a:t>
            </a:r>
            <a:r>
              <a:rPr sz="20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65" dirty="0">
                <a:solidFill>
                  <a:srgbClr val="FFFFFF"/>
                </a:solidFill>
                <a:latin typeface="Trebuchet MS"/>
                <a:cs typeface="Trebuchet MS"/>
              </a:rPr>
              <a:t>Charging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FFFF"/>
                </a:solidFill>
                <a:latin typeface="Trebuchet MS"/>
                <a:cs typeface="Trebuchet MS"/>
              </a:rPr>
              <a:t>Stations,"</a:t>
            </a:r>
            <a:r>
              <a:rPr sz="20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rebuchet MS"/>
                <a:cs typeface="Trebuchet MS"/>
              </a:rPr>
              <a:t>2021</a:t>
            </a:r>
            <a:r>
              <a:rPr sz="2000" spc="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rebuchet MS"/>
                <a:cs typeface="Trebuchet MS"/>
              </a:rPr>
              <a:t>IEEE</a:t>
            </a:r>
            <a:r>
              <a:rPr sz="20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rebuchet MS"/>
                <a:cs typeface="Trebuchet MS"/>
              </a:rPr>
              <a:t>URUCON. </a:t>
            </a:r>
            <a:r>
              <a:rPr sz="2000" spc="-10" dirty="0">
                <a:solidFill>
                  <a:srgbClr val="AFAFAF"/>
                </a:solidFill>
                <a:latin typeface="Trebuchet MS"/>
                <a:cs typeface="Trebuchet MS"/>
                <a:hlinkClick r:id="rId7"/>
              </a:rPr>
              <a:t>https://ieeexplore.ieee.org/document/9841883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3140" y="6138671"/>
            <a:ext cx="905517" cy="71932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91775" y="0"/>
            <a:ext cx="776605" cy="1214755"/>
            <a:chOff x="10391775" y="0"/>
            <a:chExt cx="776605" cy="12147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1775" y="0"/>
              <a:ext cx="776287" cy="12143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39400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AF15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125" y="228600"/>
            <a:ext cx="1143000" cy="1504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15600" y="0"/>
            <a:ext cx="1676400" cy="16764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812795" y="2573972"/>
            <a:ext cx="5900420" cy="1364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750" spc="225" dirty="0">
                <a:solidFill>
                  <a:srgbClr val="FFFFFF"/>
                </a:solidFill>
              </a:rPr>
              <a:t>Thank</a:t>
            </a:r>
            <a:r>
              <a:rPr sz="8750" spc="-140" dirty="0">
                <a:solidFill>
                  <a:srgbClr val="FFFFFF"/>
                </a:solidFill>
              </a:rPr>
              <a:t> </a:t>
            </a:r>
            <a:r>
              <a:rPr sz="8750" spc="245" dirty="0">
                <a:solidFill>
                  <a:srgbClr val="FFFFFF"/>
                </a:solidFill>
              </a:rPr>
              <a:t>You!</a:t>
            </a:r>
            <a:endParaRPr sz="8750"/>
          </a:p>
        </p:txBody>
      </p:sp>
      <p:grpSp>
        <p:nvGrpSpPr>
          <p:cNvPr id="9" name="object 9"/>
          <p:cNvGrpSpPr/>
          <p:nvPr/>
        </p:nvGrpSpPr>
        <p:grpSpPr>
          <a:xfrm>
            <a:off x="238125" y="0"/>
            <a:ext cx="11953875" cy="1733549"/>
            <a:chOff x="238125" y="0"/>
            <a:chExt cx="11953875" cy="173354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125" y="228599"/>
              <a:ext cx="1143000" cy="15049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5600" y="0"/>
              <a:ext cx="1676400" cy="16764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2B8E966-D84F-DECA-8566-FACA3E44F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FAFA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936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FarmDirect: A Smart Farmer-to-Consumer Marketplace for Agricultural Product Sales JAVA-BASED WEB DEVELOPMENT – CAPSTONE PROJECT</vt:lpstr>
      <vt:lpstr>INTRODUCTION</vt:lpstr>
      <vt:lpstr>Problem Statement</vt:lpstr>
      <vt:lpstr>System Architecture</vt:lpstr>
      <vt:lpstr>Literature Review </vt:lpstr>
      <vt:lpstr>Key Features</vt:lpstr>
      <vt:lpstr>How FarmDirect Works</vt:lpstr>
      <vt:lpstr>Application – software (JAVA) Frontend deployed at: index.html (HTML/CSS/JS)</vt:lpstr>
      <vt:lpstr>Limitations &amp; Future Scope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FarmDirect: A Smart Farmer-to-Consumer Marketplace for Agricultural Product Sales JAVA-BASED WEB DEVELOPMENT – CAPSTONE PROJECT</dc:title>
  <cp:lastModifiedBy>dheenamurali28@gmail.com</cp:lastModifiedBy>
  <cp:revision>2</cp:revision>
  <dcterms:created xsi:type="dcterms:W3CDTF">2026-06-24T08:34:20Z</dcterms:created>
  <dcterms:modified xsi:type="dcterms:W3CDTF">2026-06-24T16:06:19Z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2026-06-24T00:00:00Z</vt:filetime>
  </property>
  <property fmtid="{D5CDD505-2E9C-101B-9397-08002B2CF9AE}" pid="4" name="LastSaved">
    <vt:filetime>2026-06-24T00:00:00Z</vt:filetime>
  </property>
</Properties>
</file>